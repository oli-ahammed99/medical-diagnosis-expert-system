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Diseases</c:v>
                </c:pt>
              </c:strCache>
            </c:strRef>
          </c:tx>
          <c:spPr>
            <a:solidFill>
              <a:srgbClr val="16A3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Respiratory</c:v>
                </c:pt>
                <c:pt idx="1">
                  <c:v>Gastrointestinal</c:v>
                </c:pt>
                <c:pt idx="2">
                  <c:v>Vector-borne</c:v>
                </c:pt>
                <c:pt idx="3">
                  <c:v>Metabolic</c:v>
                </c:pt>
                <c:pt idx="4">
                  <c:v>Cardiovascular</c:v>
                </c:pt>
                <c:pt idx="5">
                  <c:v>Eye-related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59-463B-B87F-4DB1F3E7B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E5B8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Positive disease cases</c:v>
                </c:pt>
                <c:pt idx="1">
                  <c:v>Negative/general cases</c:v>
                </c:pt>
                <c:pt idx="2">
                  <c:v>Boundary input cases</c:v>
                </c:pt>
                <c:pt idx="3">
                  <c:v>Web route tests</c:v>
                </c:pt>
                <c:pt idx="4">
                  <c:v>Treatment/report checks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F8-43E5-B682-F07C9E53A7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83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bar"/>
          <p:cNvSpPr/>
          <p:nvPr/>
        </p:nvSpPr>
        <p:spPr>
          <a:xfrm>
            <a:off x="594360" y="365760"/>
            <a:ext cx="97536" cy="101193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mall label"/>
          <p:cNvSpPr/>
          <p:nvPr/>
        </p:nvSpPr>
        <p:spPr>
          <a:xfrm>
            <a:off x="2744063" y="960079"/>
            <a:ext cx="7128013" cy="766563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C6A64"/>
                </a:solidFill>
                <a:latin typeface="Aptos" pitchFamily="34" charset="0"/>
              </a:rPr>
              <a:t>CSE440 Project Presentation</a:t>
            </a:r>
            <a:endParaRPr lang="en-US" sz="4000" dirty="0"/>
          </a:p>
        </p:txBody>
      </p:sp>
      <p:sp>
        <p:nvSpPr>
          <p:cNvPr id="5" name="Main title"/>
          <p:cNvSpPr/>
          <p:nvPr/>
        </p:nvSpPr>
        <p:spPr>
          <a:xfrm>
            <a:off x="1794434" y="1523907"/>
            <a:ext cx="8603131" cy="150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1233D"/>
                </a:solidFill>
                <a:latin typeface="Aptos" pitchFamily="34" charset="0"/>
              </a:rPr>
              <a:t>Medical Diagnosis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11233D"/>
                </a:solidFill>
                <a:latin typeface="Aptos" pitchFamily="34" charset="0"/>
              </a:rPr>
              <a:t>Expert System</a:t>
            </a:r>
            <a:endParaRPr lang="en-US" sz="4400" dirty="0"/>
          </a:p>
        </p:txBody>
      </p:sp>
      <p:sp>
        <p:nvSpPr>
          <p:cNvPr id="6" name="Subtitle"/>
          <p:cNvSpPr/>
          <p:nvPr/>
        </p:nvSpPr>
        <p:spPr>
          <a:xfrm>
            <a:off x="777240" y="2225040"/>
            <a:ext cx="7200000" cy="43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endParaRPr lang="en-US" sz="2050" dirty="0"/>
          </a:p>
        </p:txBody>
      </p:sp>
      <p:sp>
        <p:nvSpPr>
          <p:cNvPr id="7" name="Authors"/>
          <p:cNvSpPr/>
          <p:nvPr/>
        </p:nvSpPr>
        <p:spPr>
          <a:xfrm>
            <a:off x="2789783" y="3021858"/>
            <a:ext cx="6126480" cy="27432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70000" lnSpcReduction="20000"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1" name="Step text"/>
          <p:cNvSpPr/>
          <p:nvPr/>
        </p:nvSpPr>
        <p:spPr>
          <a:xfrm>
            <a:off x="8660000" y="1685000"/>
            <a:ext cx="2200000" cy="48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endParaRPr lang="en-US" sz="1275" dirty="0"/>
          </a:p>
        </p:txBody>
      </p:sp>
      <p:sp>
        <p:nvSpPr>
          <p:cNvPr id="13" name="Step text"/>
          <p:cNvSpPr/>
          <p:nvPr/>
        </p:nvSpPr>
        <p:spPr>
          <a:xfrm>
            <a:off x="8660000" y="2535000"/>
            <a:ext cx="2200000" cy="48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endParaRPr lang="en-US" sz="1275" dirty="0"/>
          </a:p>
        </p:txBody>
      </p:sp>
      <p:sp>
        <p:nvSpPr>
          <p:cNvPr id="15" name="Step text"/>
          <p:cNvSpPr/>
          <p:nvPr/>
        </p:nvSpPr>
        <p:spPr>
          <a:xfrm>
            <a:off x="8660000" y="3385000"/>
            <a:ext cx="2200000" cy="48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endParaRPr lang="en-US" sz="1275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933C7750-736F-1F8E-58AB-6E1998A3C623}"/>
              </a:ext>
            </a:extLst>
          </p:cNvPr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17" name="Rounded Rectangle 16"/>
          <p:cNvSpPr/>
          <p:nvPr/>
        </p:nvSpPr>
        <p:spPr>
          <a:xfrm>
            <a:off x="5262286" y="3055440"/>
            <a:ext cx="1417320" cy="310896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5CA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9364A"/>
                </a:solidFill>
                <a:latin typeface="Aptos"/>
              </a:rPr>
              <a:t>Group No.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4063" y="3511429"/>
            <a:ext cx="6453767" cy="23317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5CA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943" y="3511102"/>
            <a:ext cx="5989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5CAEB1"/>
                </a:solidFill>
                <a:latin typeface="Aptos"/>
              </a:rPr>
              <a:t>Member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9783" y="3821998"/>
            <a:ext cx="2587247" cy="729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19364A"/>
                </a:solidFill>
                <a:latin typeface="Aptos"/>
              </a:rPr>
              <a:t>Md</a:t>
            </a:r>
            <a:r>
              <a:rPr sz="1150" b="1" dirty="0">
                <a:solidFill>
                  <a:srgbClr val="19364A"/>
                </a:solidFill>
                <a:latin typeface="Aptos"/>
              </a:rPr>
              <a:t> </a:t>
            </a:r>
            <a:r>
              <a:rPr sz="1150" b="1" dirty="0" err="1">
                <a:solidFill>
                  <a:srgbClr val="19364A"/>
                </a:solidFill>
                <a:latin typeface="Aptos"/>
              </a:rPr>
              <a:t>Shafiq</a:t>
            </a:r>
            <a:r>
              <a:rPr sz="1150" b="1" dirty="0">
                <a:solidFill>
                  <a:srgbClr val="19364A"/>
                </a:solidFill>
                <a:latin typeface="Aptos"/>
              </a:rPr>
              <a:t> Rahman </a:t>
            </a:r>
            <a:r>
              <a:rPr sz="1150" b="1" dirty="0" err="1">
                <a:solidFill>
                  <a:srgbClr val="19364A"/>
                </a:solidFill>
                <a:latin typeface="Aptos"/>
              </a:rPr>
              <a:t>Nirzon</a:t>
            </a:r>
            <a:endParaRPr sz="1150" b="1" dirty="0">
              <a:solidFill>
                <a:srgbClr val="19364A"/>
              </a:solidFill>
              <a:latin typeface="Aptos"/>
            </a:endParaRPr>
          </a:p>
          <a:p>
            <a:pPr algn="ctr"/>
            <a:r>
              <a:rPr sz="950" dirty="0">
                <a:solidFill>
                  <a:srgbClr val="4F6B78"/>
                </a:solidFill>
                <a:latin typeface="Aptos"/>
              </a:rPr>
              <a:t>ID:</a:t>
            </a:r>
            <a:r>
              <a:rPr lang="en-US" sz="950" dirty="0">
                <a:solidFill>
                  <a:srgbClr val="4F6B78"/>
                </a:solidFill>
                <a:latin typeface="Aptos"/>
              </a:rPr>
              <a:t>2211025042</a:t>
            </a:r>
            <a:endParaRPr sz="950" dirty="0">
              <a:solidFill>
                <a:srgbClr val="4F6B78"/>
              </a:solidFill>
              <a:latin typeface="Aptos"/>
            </a:endParaRP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Department of Electrical and Computer Engineering</a:t>
            </a: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North South University</a:t>
            </a:r>
          </a:p>
          <a:p>
            <a:pPr algn="ctr"/>
            <a:r>
              <a:rPr sz="880" dirty="0">
                <a:solidFill>
                  <a:srgbClr val="19364A"/>
                </a:solidFill>
                <a:latin typeface="Aptos"/>
              </a:rPr>
              <a:t>shafiq.nirzon@northsouth.edu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3023" y="3821998"/>
            <a:ext cx="2587247" cy="729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19364A"/>
                </a:solidFill>
                <a:latin typeface="Aptos"/>
              </a:rPr>
              <a:t>Oli</a:t>
            </a:r>
            <a:r>
              <a:rPr sz="1150" b="1" dirty="0">
                <a:solidFill>
                  <a:srgbClr val="19364A"/>
                </a:solidFill>
                <a:latin typeface="Aptos"/>
              </a:rPr>
              <a:t> </a:t>
            </a:r>
            <a:r>
              <a:rPr sz="1150" b="1" dirty="0" err="1">
                <a:solidFill>
                  <a:srgbClr val="19364A"/>
                </a:solidFill>
                <a:latin typeface="Aptos"/>
              </a:rPr>
              <a:t>Ahammed</a:t>
            </a:r>
            <a:endParaRPr sz="1150" b="1" dirty="0">
              <a:solidFill>
                <a:srgbClr val="19364A"/>
              </a:solidFill>
              <a:latin typeface="Aptos"/>
            </a:endParaRPr>
          </a:p>
          <a:p>
            <a:pPr algn="ctr"/>
            <a:r>
              <a:rPr sz="950" dirty="0">
                <a:solidFill>
                  <a:srgbClr val="4F6B78"/>
                </a:solidFill>
                <a:latin typeface="Aptos"/>
              </a:rPr>
              <a:t>ID:</a:t>
            </a:r>
            <a:r>
              <a:rPr lang="en-US" sz="950" dirty="0">
                <a:solidFill>
                  <a:srgbClr val="4F6B78"/>
                </a:solidFill>
                <a:latin typeface="Aptos"/>
              </a:rPr>
              <a:t>2211997042</a:t>
            </a:r>
            <a:endParaRPr sz="950" dirty="0">
              <a:solidFill>
                <a:srgbClr val="4F6B78"/>
              </a:solidFill>
              <a:latin typeface="Aptos"/>
            </a:endParaRP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Department of Electrical and Computer Engineering</a:t>
            </a: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North South University</a:t>
            </a:r>
          </a:p>
          <a:p>
            <a:pPr algn="ctr"/>
            <a:r>
              <a:rPr sz="880" dirty="0">
                <a:solidFill>
                  <a:srgbClr val="19364A"/>
                </a:solidFill>
                <a:latin typeface="Aptos"/>
              </a:rPr>
              <a:t>oli.ahammed@northsouth.edu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9783" y="4782118"/>
            <a:ext cx="2587247" cy="729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19364A"/>
                </a:solidFill>
                <a:latin typeface="Aptos"/>
              </a:rPr>
              <a:t>Mehedi</a:t>
            </a:r>
            <a:r>
              <a:rPr sz="1150" b="1" dirty="0">
                <a:solidFill>
                  <a:srgbClr val="19364A"/>
                </a:solidFill>
                <a:latin typeface="Aptos"/>
              </a:rPr>
              <a:t> Hasan</a:t>
            </a:r>
          </a:p>
          <a:p>
            <a:pPr algn="ctr"/>
            <a:r>
              <a:rPr sz="950" dirty="0">
                <a:solidFill>
                  <a:srgbClr val="4F6B78"/>
                </a:solidFill>
                <a:latin typeface="Aptos"/>
              </a:rPr>
              <a:t>ID:</a:t>
            </a:r>
            <a:r>
              <a:rPr lang="en-US" sz="950" dirty="0">
                <a:solidFill>
                  <a:srgbClr val="4F6B78"/>
                </a:solidFill>
                <a:latin typeface="Aptos"/>
              </a:rPr>
              <a:t>2211966042</a:t>
            </a:r>
            <a:endParaRPr sz="950" dirty="0">
              <a:solidFill>
                <a:srgbClr val="4F6B78"/>
              </a:solidFill>
              <a:latin typeface="Aptos"/>
            </a:endParaRP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Department of Electrical and Computer Engineering</a:t>
            </a: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North South University</a:t>
            </a:r>
          </a:p>
          <a:p>
            <a:pPr algn="ctr"/>
            <a:r>
              <a:rPr sz="880" dirty="0">
                <a:solidFill>
                  <a:srgbClr val="19364A"/>
                </a:solidFill>
                <a:latin typeface="Aptos"/>
              </a:rPr>
              <a:t>mchedi.hasan123@northsouth.edu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3023" y="4782118"/>
            <a:ext cx="2587247" cy="729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19364A"/>
                </a:solidFill>
                <a:latin typeface="Aptos"/>
              </a:rPr>
              <a:t>Sabbir</a:t>
            </a:r>
            <a:r>
              <a:rPr sz="1150" b="1" dirty="0">
                <a:solidFill>
                  <a:srgbClr val="19364A"/>
                </a:solidFill>
                <a:latin typeface="Aptos"/>
              </a:rPr>
              <a:t> </a:t>
            </a:r>
            <a:r>
              <a:rPr sz="1150" b="1" dirty="0" err="1">
                <a:solidFill>
                  <a:srgbClr val="19364A"/>
                </a:solidFill>
                <a:latin typeface="Aptos"/>
              </a:rPr>
              <a:t>Hossen</a:t>
            </a:r>
            <a:endParaRPr sz="1150" b="1" dirty="0">
              <a:solidFill>
                <a:srgbClr val="19364A"/>
              </a:solidFill>
              <a:latin typeface="Aptos"/>
            </a:endParaRPr>
          </a:p>
          <a:p>
            <a:pPr algn="ctr"/>
            <a:r>
              <a:rPr sz="950" dirty="0">
                <a:solidFill>
                  <a:srgbClr val="4F6B78"/>
                </a:solidFill>
                <a:latin typeface="Aptos"/>
              </a:rPr>
              <a:t>ID:</a:t>
            </a:r>
            <a:r>
              <a:rPr lang="en-US" sz="950" dirty="0">
                <a:solidFill>
                  <a:srgbClr val="4F6B78"/>
                </a:solidFill>
                <a:latin typeface="Aptos"/>
              </a:rPr>
              <a:t>2212787642</a:t>
            </a:r>
            <a:endParaRPr sz="950" dirty="0">
              <a:solidFill>
                <a:srgbClr val="4F6B78"/>
              </a:solidFill>
              <a:latin typeface="Aptos"/>
            </a:endParaRP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Department of Electrical and Computer Engineering</a:t>
            </a:r>
          </a:p>
          <a:p>
            <a:pPr algn="ctr"/>
            <a:r>
              <a:rPr sz="880" i="1" dirty="0">
                <a:solidFill>
                  <a:srgbClr val="19364A"/>
                </a:solidFill>
                <a:latin typeface="Aptos"/>
              </a:rPr>
              <a:t>North South University</a:t>
            </a:r>
          </a:p>
          <a:p>
            <a:pPr algn="ctr"/>
            <a:r>
              <a:rPr sz="880" dirty="0">
                <a:solidFill>
                  <a:srgbClr val="19364A"/>
                </a:solidFill>
                <a:latin typeface="Aptos"/>
              </a:rPr>
              <a:t>sabbir.hossen01@northsouth.edu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233D"/>
                </a:solidFill>
                <a:latin typeface="Aptos" pitchFamily="34" charset="0"/>
              </a:rPr>
              <a:t>Introduction</a:t>
            </a:r>
            <a:endParaRPr lang="en-US" sz="3000" dirty="0"/>
          </a:p>
        </p:txBody>
      </p:sp>
      <p:sp>
        <p:nvSpPr>
          <p:cNvPr id="4" name="Subtitle"/>
          <p:cNvSpPr/>
          <p:nvPr/>
        </p:nvSpPr>
        <p:spPr>
          <a:xfrm>
            <a:off x="621792" y="868680"/>
            <a:ext cx="9000000" cy="329184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Aptos" pitchFamily="34" charset="0"/>
              </a:rPr>
              <a:t>A transparent rule-based assistant for preliminary medical diagnosis reasoning</a:t>
            </a:r>
            <a:endParaRPr lang="en-US" sz="1450" dirty="0"/>
          </a:p>
        </p:txBody>
      </p:sp>
      <p:sp>
        <p:nvSpPr>
          <p:cNvPr id="6" name="Left teal panel"/>
          <p:cNvSpPr/>
          <p:nvPr/>
        </p:nvSpPr>
        <p:spPr>
          <a:xfrm>
            <a:off x="594360" y="1715650"/>
            <a:ext cx="3100000" cy="3400000"/>
          </a:xfrm>
          <a:prstGeom prst="roundRect">
            <a:avLst/>
          </a:prstGeom>
          <a:solidFill>
            <a:srgbClr val="2B6686"/>
          </a:solidFill>
          <a:ln w="12700">
            <a:solidFill>
              <a:srgbClr val="2B66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Panel title"/>
          <p:cNvSpPr/>
          <p:nvPr/>
        </p:nvSpPr>
        <p:spPr>
          <a:xfrm>
            <a:off x="850000" y="1955268"/>
            <a:ext cx="26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864" rIns="91440" bIns="5486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</a:rPr>
              <a:t>Project Overview</a:t>
            </a:r>
            <a:endParaRPr lang="en-US" sz="2250" dirty="0"/>
          </a:p>
        </p:txBody>
      </p:sp>
      <p:sp>
        <p:nvSpPr>
          <p:cNvPr id="8" name="Panel body"/>
          <p:cNvSpPr/>
          <p:nvPr/>
        </p:nvSpPr>
        <p:spPr>
          <a:xfrm>
            <a:off x="850000" y="2655268"/>
            <a:ext cx="2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4864" rIns="91440" bIns="5486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</a:rPr>
              <a:t>The system collects patient symptoms and selected history, represents them as facts, and applies explicit rules to suggest a possible disease with supporting evidence.</a:t>
            </a:r>
            <a:endParaRPr lang="en-US" sz="1550" dirty="0"/>
          </a:p>
        </p:txBody>
      </p:sp>
      <p:sp>
        <p:nvSpPr>
          <p:cNvPr id="9" name="Intro card"/>
          <p:cNvSpPr/>
          <p:nvPr/>
        </p:nvSpPr>
        <p:spPr>
          <a:xfrm>
            <a:off x="4050000" y="1550000"/>
            <a:ext cx="3000000" cy="1650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7D0C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Intro card text"/>
          <p:cNvSpPr/>
          <p:nvPr/>
        </p:nvSpPr>
        <p:spPr>
          <a:xfrm>
            <a:off x="4230000" y="1710000"/>
            <a:ext cx="2640000" cy="131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33D"/>
                </a:solidFill>
                <a:latin typeface="Aptos" pitchFamily="34" charset="0"/>
              </a:rPr>
              <a:t>Problem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Aptos" pitchFamily="34" charset="0"/>
              </a:rPr>
              <a:t>Medical diagnosis requires reasoning over multiple symptoms, history details, and clinical knowledge. A single symptom is usually not enough.</a:t>
            </a:r>
            <a:endParaRPr lang="en-US" sz="1325" dirty="0"/>
          </a:p>
        </p:txBody>
      </p:sp>
      <p:sp>
        <p:nvSpPr>
          <p:cNvPr id="11" name="Intro card"/>
          <p:cNvSpPr/>
          <p:nvPr/>
        </p:nvSpPr>
        <p:spPr>
          <a:xfrm>
            <a:off x="7400000" y="1550000"/>
            <a:ext cx="3000000" cy="1650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7D0C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Intro card text"/>
          <p:cNvSpPr/>
          <p:nvPr/>
        </p:nvSpPr>
        <p:spPr>
          <a:xfrm>
            <a:off x="7580000" y="1710000"/>
            <a:ext cx="2640000" cy="131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33D"/>
                </a:solidFill>
                <a:latin typeface="Aptos" pitchFamily="34" charset="0"/>
              </a:rPr>
              <a:t>Approach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Aptos" pitchFamily="34" charset="0"/>
              </a:rPr>
              <a:t>The prototype uses IF–THEN style expert-system rules, so the reasoning process remains visible and easy to explain.</a:t>
            </a:r>
            <a:endParaRPr lang="en-US" sz="1325" dirty="0"/>
          </a:p>
        </p:txBody>
      </p:sp>
      <p:sp>
        <p:nvSpPr>
          <p:cNvPr id="13" name="Intro card"/>
          <p:cNvSpPr/>
          <p:nvPr/>
        </p:nvSpPr>
        <p:spPr>
          <a:xfrm>
            <a:off x="4050000" y="3600000"/>
            <a:ext cx="3000000" cy="1650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7D0C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Intro card text"/>
          <p:cNvSpPr/>
          <p:nvPr/>
        </p:nvSpPr>
        <p:spPr>
          <a:xfrm>
            <a:off x="4230000" y="3760000"/>
            <a:ext cx="2640000" cy="131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33D"/>
                </a:solidFill>
                <a:latin typeface="Aptos" pitchFamily="34" charset="0"/>
              </a:rPr>
              <a:t>Output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Aptos" pitchFamily="34" charset="0"/>
              </a:rPr>
              <a:t>After matching symptoms with disease rules, it shows a possible diagnosis, evidence, treatment information, and report support.</a:t>
            </a:r>
            <a:endParaRPr lang="en-US" sz="1325" dirty="0"/>
          </a:p>
        </p:txBody>
      </p:sp>
      <p:sp>
        <p:nvSpPr>
          <p:cNvPr id="15" name="Intro card"/>
          <p:cNvSpPr/>
          <p:nvPr/>
        </p:nvSpPr>
        <p:spPr>
          <a:xfrm>
            <a:off x="7400000" y="3600000"/>
            <a:ext cx="3000000" cy="16500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7D0C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Intro card text"/>
          <p:cNvSpPr/>
          <p:nvPr/>
        </p:nvSpPr>
        <p:spPr>
          <a:xfrm>
            <a:off x="7580000" y="3760000"/>
            <a:ext cx="2640000" cy="1310000"/>
          </a:xfrm>
          <a:prstGeom prst="rect">
            <a:avLst/>
          </a:prstGeom>
          <a:noFill/>
          <a:ln/>
        </p:spPr>
        <p:txBody>
          <a:bodyPr wrap="square" lIns="91440" tIns="54864" rIns="91440" bIns="5486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233D"/>
                </a:solidFill>
                <a:latin typeface="Aptos" pitchFamily="34" charset="0"/>
              </a:rPr>
              <a:t>Safety note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C6A64"/>
                </a:solidFill>
                <a:latin typeface="Aptos" pitchFamily="34" charset="0"/>
              </a:rPr>
              <a:t>The system is for education and preliminary decision support only, not a replacement for professional medical advice.</a:t>
            </a:r>
            <a:endParaRPr lang="en-US" sz="1325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EE0556F4-4158-6688-9480-46F23A4C22E7}"/>
              </a:ext>
            </a:extLst>
          </p:cNvPr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01</a:t>
            </a:r>
            <a:endParaRPr lang="en-US" sz="8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38024A1-73F4-A31A-63F4-3A80D9530249}"/>
              </a:ext>
            </a:extLst>
          </p:cNvPr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22" name="Rectangle 21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A complete walkthrough from problem to prototype and future work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566928" cy="566928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78408" y="14813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9344" y="14356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Problem &amp; motivation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78408" y="2578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9344" y="2532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Objectives and scope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78408" y="36758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9344" y="3630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Architecture and inference flow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309360" y="1325880"/>
            <a:ext cx="566928" cy="566928"/>
          </a:xfrm>
          <a:prstGeom prst="ellipse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64808" y="14813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95744" y="14356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Implementation: console + web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309360" y="2423160"/>
            <a:ext cx="566928" cy="566928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64808" y="25786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95744" y="2532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Knowledge base and supported diseases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309360" y="3520440"/>
            <a:ext cx="566928" cy="566928"/>
          </a:xfrm>
          <a:prstGeom prst="ellipse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64808" y="36758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95744" y="3630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33D"/>
                </a:solidFill>
              </a:rPr>
              <a:t>Testing, limitations, and future work</a:t>
            </a:r>
            <a:endParaRPr lang="en-US" sz="1900" dirty="0"/>
          </a:p>
        </p:txBody>
      </p:sp>
      <p:sp>
        <p:nvSpPr>
          <p:cNvPr id="25" name="Rectangle 24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Why a rule-based medical diagnosis assistant is useful for learning and decision support?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73152" cy="3337560"/>
          </a:xfrm>
          <a:prstGeom prst="rect">
            <a:avLst/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0632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Medical diagnosis requires reasoning over symptoms, patient history, risks, and clinical knowledge. A single symptom such as fever is usually not enough for a reliable decision.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73152" cy="333756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1581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Why expert systems?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30632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Expert systems store domain knowledge as facts and rules. They can apply those rules consistently and show why a conclusion was suggested.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73152" cy="3337560"/>
          </a:xfrm>
          <a:prstGeom prst="rect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6676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Project direction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1920240"/>
            <a:ext cx="28803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This project builds an interpretable prototype that suggests possible disease, evidence, treatment information, and a downloadable consultation report.</a:t>
            </a:r>
            <a:endParaRPr lang="en-US" sz="1180" dirty="0"/>
          </a:p>
        </p:txBody>
      </p:sp>
      <p:sp>
        <p:nvSpPr>
          <p:cNvPr id="20" name="Rectangle 19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 and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What the system is designed to do — and what it is not designed to do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331060"/>
            <a:ext cx="530352" cy="530352"/>
          </a:xfrm>
          <a:prstGeom prst="ellipse">
            <a:avLst/>
          </a:prstGeom>
          <a:solidFill>
            <a:srgbClr val="4E9B58"/>
          </a:solidFill>
          <a:ln w="12700">
            <a:solidFill>
              <a:srgbClr val="4E9B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86968" y="150272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33D"/>
                </a:solidFill>
              </a:rPr>
              <a:t>Main objectives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0908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62033"/>
                </a:solidFill>
              </a:rPr>
              <a:t>Design a symptom-based medical diagnosis expert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075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Represent disease knowledge using facts, rules, and inference logic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10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Implement both console and web-based consultation interfaces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5133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538728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Show treatment information and generate simple PDF reports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2491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41648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Keep the reasoning process explainable through matched symptoms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339684"/>
            <a:ext cx="530352" cy="530352"/>
          </a:xfrm>
          <a:prstGeom prst="ellipse">
            <a:avLst/>
          </a:prstGeom>
          <a:solidFill>
            <a:srgbClr val="CC4B4B"/>
          </a:solidFill>
          <a:ln w="12700">
            <a:solidFill>
              <a:srgbClr val="CC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64808" y="152860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14032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33D"/>
                </a:solidFill>
              </a:rPr>
              <a:t>System scope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2108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02996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Supports 22 diseases from major categories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6750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596896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Uses question-by-question symptom collection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1384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163824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</a:rPr>
              <a:t>Does not perform lab analysis, imaging, or emergency triage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80027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A3A3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730752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62033"/>
                </a:solidFill>
              </a:rPr>
              <a:t>Output must be reviewed by a healthcare professional</a:t>
            </a:r>
            <a:endParaRPr lang="en-US" sz="1600" dirty="0"/>
          </a:p>
        </p:txBody>
      </p:sp>
      <p:sp>
        <p:nvSpPr>
          <p:cNvPr id="31" name="Rectangle 30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Five connected components turn user answers into a diagnosis result.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2788920"/>
            <a:ext cx="1143000" cy="0"/>
          </a:xfrm>
          <a:prstGeom prst="line">
            <a:avLst/>
          </a:prstGeom>
          <a:noFill/>
          <a:ln w="2286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89120" y="2788920"/>
            <a:ext cx="1143000" cy="0"/>
          </a:xfrm>
          <a:prstGeom prst="line">
            <a:avLst/>
          </a:prstGeom>
          <a:noFill/>
          <a:ln w="2286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1143000" cy="0"/>
          </a:xfrm>
          <a:prstGeom prst="line">
            <a:avLst/>
          </a:prstGeom>
          <a:noFill/>
          <a:ln w="2286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503920" y="2788920"/>
            <a:ext cx="1143000" cy="0"/>
          </a:xfrm>
          <a:prstGeom prst="line">
            <a:avLst/>
          </a:prstGeom>
          <a:noFill/>
          <a:ln w="2286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33D"/>
                </a:solidFill>
              </a:rPr>
              <a:t>User Interface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788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B7A"/>
                </a:solidFill>
              </a:rPr>
              <a:t>Web / console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80360" y="214884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EEF6F7"/>
          </a:solidFill>
          <a:ln w="1397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990088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33D"/>
                </a:solidFill>
              </a:rPr>
              <a:t>Question Controller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17520" y="2788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B7A"/>
                </a:solidFill>
              </a:rPr>
              <a:t>Session &amp; answer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38928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33D"/>
                </a:solidFill>
              </a:rPr>
              <a:t>Inference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66360" y="2788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B7A"/>
                </a:solidFill>
              </a:rPr>
              <a:t>Rule matching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214884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EEF6F7"/>
          </a:solidFill>
          <a:ln w="1397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87768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33D"/>
                </a:solidFill>
              </a:rPr>
              <a:t>Knowledge Base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0" y="2788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B7A"/>
                </a:solidFill>
              </a:rPr>
              <a:t>Disease rules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214884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36608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33D"/>
                </a:solidFill>
              </a:rPr>
              <a:t>Treatment &amp; Report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64040" y="2788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B7A"/>
                </a:solidFill>
              </a:rPr>
              <a:t>Advice + PDF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728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62033"/>
                </a:solidFill>
              </a:rPr>
              <a:t>Architecture purpose: separate symptom collection, reasoning, disease knowledge, and output generation so each part is easier to test and maintain.</a:t>
            </a:r>
            <a:endParaRPr lang="en-US" sz="1800" dirty="0"/>
          </a:p>
        </p:txBody>
      </p:sp>
      <p:sp>
        <p:nvSpPr>
          <p:cNvPr id="27" name="Rectangle 26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Forward-style reasoning from patient answers to disease rules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673352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828800" y="2331720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828800" y="2990088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828800" y="3648456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828800" y="4306824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828800" y="4965192"/>
            <a:ext cx="0" cy="347472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14400" y="1234440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33272" y="13533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33D"/>
                </a:solidFill>
              </a:rPr>
              <a:t>Start Consultation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914400" y="189280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EEF6F7"/>
          </a:solidFill>
          <a:ln w="1143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33272" y="201168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33D"/>
                </a:solidFill>
              </a:rPr>
              <a:t>Collect Patient Info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914400" y="2551176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33272" y="26700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33D"/>
                </a:solidFill>
              </a:rPr>
              <a:t>Ask Symptom Questions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914400" y="320954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EEF6F7"/>
          </a:solidFill>
          <a:ln w="1143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33272" y="33284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33D"/>
                </a:solidFill>
              </a:rPr>
              <a:t>Store Answers as Facts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914400" y="3867912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3986784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33D"/>
                </a:solidFill>
              </a:rPr>
              <a:t>Match Facts with Disease Rules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914400" y="4526280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EEF6F7"/>
          </a:solidFill>
          <a:ln w="1143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33272" y="464515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33D"/>
                </a:solidFill>
              </a:rPr>
              <a:t>Generate Diagnosis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914400" y="51846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143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33272" y="530352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33D"/>
                </a:solidFill>
              </a:rPr>
              <a:t>Show Explanation and Treatment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3977640" y="132588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977640" y="1325880"/>
            <a:ext cx="73152" cy="1463040"/>
          </a:xfrm>
          <a:prstGeom prst="rect">
            <a:avLst/>
          </a:prstGeom>
          <a:solidFill>
            <a:srgbClr val="CC4B4B"/>
          </a:solidFill>
          <a:ln w="12700">
            <a:solidFill>
              <a:srgbClr val="CC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206240" y="14904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Example rule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0624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IF high fever + body pain + rash + bleeding tendency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THEN possible diagnosis = Dengue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7635240" y="13258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635240" y="1325880"/>
            <a:ext cx="73152" cy="146304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863840" y="14904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Evidence score idea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63840" y="1828800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Matched symptoms are compared with expected disease symptoms to support the final explanation.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3977640" y="333756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977640" y="3337560"/>
            <a:ext cx="73152" cy="1463040"/>
          </a:xfrm>
          <a:prstGeom prst="rect">
            <a:avLst/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206240" y="35021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Avoid overconfidence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206240" y="3840480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The system avoids diagnosis from one generic symptom such as fever only.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7635240" y="333756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7635240" y="3337560"/>
            <a:ext cx="73152" cy="1463040"/>
          </a:xfrm>
          <a:prstGeom prst="rect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863840" y="35021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Explainable result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63840" y="3840480"/>
            <a:ext cx="2834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Output includes the possible disease and the symptoms that triggered the rule.</a:t>
            </a:r>
            <a:endParaRPr lang="en-US" sz="1180" dirty="0"/>
          </a:p>
        </p:txBody>
      </p:sp>
      <p:sp>
        <p:nvSpPr>
          <p:cNvPr id="43" name="Rectangle 42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The prototype has a core console engine and a Flask web interface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73152" cy="3429000"/>
          </a:xfrm>
          <a:prstGeom prst="rect">
            <a:avLst/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Console diagnosis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283464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Implemented in expert.py. It asks questions, collects answers, applies rule-based logic, and prints possible diagnosis with evidence.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73152" cy="342900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14904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Web-based interface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283464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Implemented in web.py using Flask. It supports question-by-question consultation, session-based storage, result pages, treatment links, and report download.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73152" cy="3429000"/>
          </a:xfrm>
          <a:prstGeom prst="rect">
            <a:avLst/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66760" y="14904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Treatment and PDF module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1828800"/>
            <a:ext cx="283464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Disease treatment files are stored separately from the rule engine. This improves maintainability and allows consultation results to be saved.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14400" y="51937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233D"/>
                </a:solidFill>
              </a:rPr>
              <a:t>Main tools: Python • Experta • Flask • HTML/CSS • Treatment files • PDF generation logic</a:t>
            </a:r>
            <a:endParaRPr lang="en-US" sz="1800" dirty="0"/>
          </a:p>
        </p:txBody>
      </p:sp>
      <p:sp>
        <p:nvSpPr>
          <p:cNvPr id="20" name="Rectangle 19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Disease Knowledge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22 supported diseases organized into clinical symptom groups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1. Diabetes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59105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2. Pneumonia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3. Asthma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4. Anemia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66090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5. Hypothyroidism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6. Dehydration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37413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7. Obesity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8. Arthritis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08736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9. Bronchitis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44398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10. Pancreatitis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11. Peptic ulcer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123444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12. Gastritis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159105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13. Hepatitis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194767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14. Influenza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230428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15. Tuberculosis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266090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16. Malaria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301752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17. Dengue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3374136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18. COVID-19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11880" y="3730752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19. Conjunctivitis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11880" y="4087368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20. Eye allergy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444398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21. Coronary arteriosclerosis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11880" y="480060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33"/>
                </a:solidFill>
              </a:rPr>
              <a:t>22. AIDS/HIV infection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E5B83"/>
          </a:solidFill>
          <a:ln w="12700">
            <a:solidFill>
              <a:srgbClr val="1E5B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10528" y="1590929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85432" y="1623060"/>
            <a:ext cx="8726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Respiratory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132588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659368" y="1598295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919019" y="1585150"/>
            <a:ext cx="1363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Gastrointestinal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37744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CC4B4B"/>
          </a:solidFill>
          <a:ln w="12700">
            <a:solidFill>
              <a:srgbClr val="CC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10528" y="26380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85432" y="265176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Vector-borne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49640" y="237744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68512" y="264033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929116" y="2626995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Metabolic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3429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10528" y="367588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85432" y="368503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Eye-related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49640" y="342900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4E9B58"/>
          </a:solidFill>
          <a:ln w="12700">
            <a:solidFill>
              <a:srgbClr val="4E9B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68512" y="367207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796528" y="368046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Other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17920" y="48920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62033"/>
                </a:solidFill>
              </a:rPr>
              <a:t>Category distribution highlights the breadth of the prototype while keeping the knowledge base manageable.</a:t>
            </a:r>
            <a:endParaRPr lang="en-US" sz="1500" dirty="0"/>
          </a:p>
        </p:txBody>
      </p:sp>
      <p:sp>
        <p:nvSpPr>
          <p:cNvPr id="48" name="Rectangle 47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Diseases by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Respiratory and gastrointestinal conditions form the largest groups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09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914400" y="1143000"/>
          <a:ext cx="10241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71500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Fig. 6. Distribution of supported diseases by category.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Scenario-based tests verify software behavior, not clinical accuracy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10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1188720"/>
          <a:ext cx="58978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132320" y="1325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132320" y="1325880"/>
            <a:ext cx="73152" cy="105156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360920" y="1490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Functional cases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Pneumonia, Dengue, Diabetes, Eye allergy, generic fever, missing answers, treatment pages.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7132320" y="27432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132320" y="2743200"/>
            <a:ext cx="73152" cy="1051560"/>
          </a:xfrm>
          <a:prstGeom prst="rect">
            <a:avLst/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360920" y="28757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Sample trace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60920" y="3161538"/>
            <a:ext cx="3566160" cy="6812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High fever + cough + breathing difficulty + chest pain → possible Pneumonia with evidence.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32320" y="41605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7132320" y="4160520"/>
            <a:ext cx="73152" cy="1051560"/>
          </a:xfrm>
          <a:prstGeom prst="rect">
            <a:avLst/>
          </a:prstGeom>
          <a:solidFill>
            <a:srgbClr val="CC4B4B"/>
          </a:solidFill>
          <a:ln w="12700">
            <a:solidFill>
              <a:srgbClr val="CC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7360920" y="43251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Evaluation limitation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6092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Testing confirms logic, but clinical validation needs expert-reviewed cases and metrics such as sensitivity and specificity.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and 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Strengths are explainability and maintainability; future work improves safety and accuracy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</a:rPr>
              <a:t>Medical Diagnosis Expert System | CSE440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3152" cy="4343400"/>
          </a:xfrm>
          <a:prstGeom prst="rect">
            <a:avLst/>
          </a:prstGeom>
          <a:solidFill>
            <a:srgbClr val="4E9B58"/>
          </a:solidFill>
          <a:ln w="12700">
            <a:solidFill>
              <a:srgbClr val="4E9B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399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Strengths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Transparent reasoning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Rules are easy to inspect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Console and web interfaces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Treatment pages linked to output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Good demonstration of expert-system concepts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73152" cy="4343400"/>
          </a:xfrm>
          <a:prstGeom prst="rect">
            <a:avLst/>
          </a:prstGeom>
          <a:solidFill>
            <a:srgbClr val="E9893A"/>
          </a:solidFill>
          <a:ln w="12700">
            <a:solidFill>
              <a:srgbClr val="E989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17720" y="1399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Manual rules only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No lab or imaging data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No probability or prevalence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Similar symptoms may reduce certainty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Knowledge base needs expert review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046720" y="12344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D7D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046720" y="1234440"/>
            <a:ext cx="73152" cy="4343400"/>
          </a:xfrm>
          <a:prstGeom prst="rect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75320" y="13990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233D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1737360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JSON/database rule storage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Rule citations and review dates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Red-flag severity warnings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Clinician review mode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Multilingual support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Automated unit tests</a:t>
            </a:r>
            <a:endParaRPr lang="en-US" sz="1180" dirty="0"/>
          </a:p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</a:rPr>
              <a:t>• Probabilistic disease ranking</a:t>
            </a:r>
            <a:endParaRPr lang="en-US" sz="1180" dirty="0"/>
          </a:p>
        </p:txBody>
      </p:sp>
      <p:sp>
        <p:nvSpPr>
          <p:cNvPr id="19" name="Rectangle 18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217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F243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49807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Final takeaway from the rule-based medical diagnosis expert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27648"/>
            <a:ext cx="34747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352044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520440"/>
          </a:xfrm>
          <a:prstGeom prst="rect">
            <a:avLst/>
          </a:prstGeom>
          <a:solidFill>
            <a:srgbClr val="16A3A3"/>
          </a:solidFill>
          <a:ln>
            <a:solidFill>
              <a:srgbClr val="16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906170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0F24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This project successfully demonstrates a medical diagnosis expert system using logic programming and rule-based knowledge representation.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2331720"/>
            <a:ext cx="219456" cy="219456"/>
          </a:xfrm>
          <a:prstGeom prst="ellipse">
            <a:avLst/>
          </a:prstGeom>
          <a:solidFill>
            <a:srgbClr val="16A3A3"/>
          </a:solidFill>
          <a:ln>
            <a:solidFill>
              <a:srgbClr val="16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363724"/>
            <a:ext cx="21945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22576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Converts patient answers into structured facts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2761488"/>
            <a:ext cx="219456" cy="219456"/>
          </a:xfrm>
          <a:prstGeom prst="ellipse">
            <a:avLst/>
          </a:prstGeom>
          <a:solidFill>
            <a:srgbClr val="4E9B58"/>
          </a:solidFill>
          <a:ln>
            <a:solidFill>
              <a:srgbClr val="4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2793492"/>
            <a:ext cx="21945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52344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Applies disease rules to infer possible diagnosis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3191256"/>
            <a:ext cx="219456" cy="219456"/>
          </a:xfrm>
          <a:prstGeom prst="ellipse">
            <a:avLst/>
          </a:prstGeom>
          <a:solidFill>
            <a:srgbClr val="E9893A"/>
          </a:solidFill>
          <a:ln>
            <a:solidFill>
              <a:srgbClr val="E9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3223260"/>
            <a:ext cx="21945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82112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 dirty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Explains output using matched symptoms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3621024"/>
            <a:ext cx="219456" cy="219456"/>
          </a:xfrm>
          <a:prstGeom prst="ellipse">
            <a:avLst/>
          </a:prstGeom>
          <a:solidFill>
            <a:srgbClr val="16A3A3"/>
          </a:solidFill>
          <a:ln>
            <a:solidFill>
              <a:srgbClr val="16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4128" y="3653028"/>
            <a:ext cx="21945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11880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Connects diagnosis to treatment information and report support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" y="4050791"/>
            <a:ext cx="219456" cy="219456"/>
          </a:xfrm>
          <a:prstGeom prst="ellipse">
            <a:avLst/>
          </a:prstGeom>
          <a:solidFill>
            <a:srgbClr val="4E9B58"/>
          </a:solidFill>
          <a:ln>
            <a:solidFill>
              <a:srgbClr val="4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" y="4082796"/>
            <a:ext cx="219456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41648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5E6D7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Designed for education and preliminary decision support only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55D9919-9D66-0F1D-BDBC-397EA5D6B0A5}"/>
              </a:ext>
            </a:extLst>
          </p:cNvPr>
          <p:cNvSpPr/>
          <p:nvPr/>
        </p:nvSpPr>
        <p:spPr>
          <a:xfrm>
            <a:off x="6644640" y="9875520"/>
            <a:ext cx="11064240" cy="0"/>
          </a:xfrm>
          <a:prstGeom prst="line">
            <a:avLst/>
          </a:prstGeom>
          <a:noFill/>
          <a:ln w="10160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DB1ACE51-6E00-3DFE-F528-CCD973BE5E22}"/>
              </a:ext>
            </a:extLst>
          </p:cNvPr>
          <p:cNvSpPr/>
          <p:nvPr/>
        </p:nvSpPr>
        <p:spPr>
          <a:xfrm>
            <a:off x="6797040" y="10027920"/>
            <a:ext cx="11064240" cy="0"/>
          </a:xfrm>
          <a:prstGeom prst="line">
            <a:avLst/>
          </a:prstGeom>
          <a:noFill/>
          <a:ln w="10160">
            <a:solidFill>
              <a:srgbClr val="D7D0C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F8F2075C-E286-E1C3-B315-0182552F48EF}"/>
              </a:ext>
            </a:extLst>
          </p:cNvPr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Medical Diagnosis Expert System | CSE440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94360" y="6291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Medical Diagnosis Expert System | CSE440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65408" y="63276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9350B-5DB8-B813-8FD1-C455C00A012E}"/>
              </a:ext>
            </a:extLst>
          </p:cNvPr>
          <p:cNvSpPr/>
          <p:nvPr/>
        </p:nvSpPr>
        <p:spPr>
          <a:xfrm>
            <a:off x="2355136" y="2505670"/>
            <a:ext cx="7481728" cy="15696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12700">
                  <a:solidFill>
                    <a:srgbClr val="44546A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44546A"/>
                  </a:fgClr>
                  <a:bgClr>
                    <a:srgbClr val="44546A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44546A">
                      <a:lumMod val="75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</a:t>
            </a:r>
            <a:endParaRPr kumimoji="0" lang="en-AE" sz="9600" b="1" i="0" u="none" strike="noStrike" kern="1200" cap="none" spc="0" normalizeH="0" baseline="0" noProof="0" dirty="0">
              <a:ln w="12700">
                <a:solidFill>
                  <a:srgbClr val="44546A">
                    <a:lumMod val="75000"/>
                  </a:srgbClr>
                </a:solidFill>
                <a:prstDash val="solid"/>
              </a:ln>
              <a:pattFill prst="dkUpDiag">
                <a:fgClr>
                  <a:srgbClr val="44546A"/>
                </a:fgClr>
                <a:bgClr>
                  <a:srgbClr val="44546A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44546A">
                    <a:lumMod val="75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6565392"/>
            <a:ext cx="11109960" cy="13716"/>
          </a:xfrm>
          <a:prstGeom prst="rect">
            <a:avLst/>
          </a:prstGeom>
          <a:solidFill>
            <a:srgbClr val="5CA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11109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80">
                <a:solidFill>
                  <a:srgbClr val="4F6B78"/>
                </a:solidFill>
                <a:latin typeface="Aptos"/>
              </a:rPr>
              <a:t>Group 3 | Oli Ahammed • Sabbir Hossen • Mehedi Hasan • Md Shafiq Rahman Nirzon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1465</Words>
  <Application>Microsoft Office PowerPoint</Application>
  <PresentationFormat>Widescreen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CSE440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Diagnosis Expert System Using Logic Programming and Rule-Based Knowledge Representation</dc:title>
  <dc:subject>Medical Diagnosis Expert System</dc:subject>
  <dc:creator>Oli Ahammed</dc:creator>
  <cp:lastModifiedBy>oli46599@gmail.com</cp:lastModifiedBy>
  <cp:revision>11</cp:revision>
  <dcterms:created xsi:type="dcterms:W3CDTF">2026-04-28T07:54:37Z</dcterms:created>
  <dcterms:modified xsi:type="dcterms:W3CDTF">2026-04-28T17:27:36Z</dcterms:modified>
</cp:coreProperties>
</file>